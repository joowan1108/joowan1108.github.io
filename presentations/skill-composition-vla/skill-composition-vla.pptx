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d904c49310462d" /><Relationship Type="http://schemas.openxmlformats.org/officeDocument/2006/relationships/extended-properties" Target="/docProps/app.xml" Id="R4cc353ec2b904daa" /><Relationship Type="http://schemas.openxmlformats.org/officeDocument/2006/relationships/officeDocument" Target="/ppt/presentation.xml" Id="R7cdad123330249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be88f8d514aa3"/>
  </p:sldMasterIdLst>
  <p:notesMasterIdLst>
    <p:notesMasterId xmlns:r="http://schemas.openxmlformats.org/officeDocument/2006/relationships" r:id="Redc1450198634dce"/>
  </p:notesMasterIdLst>
  <p:sldIdLst>
    <p:sldId xmlns:r="http://schemas.openxmlformats.org/officeDocument/2006/relationships" id="256" r:id="R343b353898c0435e"/>
    <p:sldId xmlns:r="http://schemas.openxmlformats.org/officeDocument/2006/relationships" id="257" r:id="Re6678ffe15e44698"/>
    <p:sldId xmlns:r="http://schemas.openxmlformats.org/officeDocument/2006/relationships" id="258" r:id="R0078950360874ad6"/>
    <p:sldId xmlns:r="http://schemas.openxmlformats.org/officeDocument/2006/relationships" id="259" r:id="Rccda9a7898c1485c"/>
    <p:sldId xmlns:r="http://schemas.openxmlformats.org/officeDocument/2006/relationships" id="260" r:id="Rc3ebcd2cf37d4982"/>
    <p:sldId xmlns:r="http://schemas.openxmlformats.org/officeDocument/2006/relationships" id="261" r:id="R3db245428af140b1"/>
    <p:sldId xmlns:r="http://schemas.openxmlformats.org/officeDocument/2006/relationships" id="262" r:id="R6a67561a94704d97"/>
    <p:sldId xmlns:r="http://schemas.openxmlformats.org/officeDocument/2006/relationships" id="263" r:id="R936f12b174e3414a"/>
    <p:sldId xmlns:r="http://schemas.openxmlformats.org/officeDocument/2006/relationships" id="264" r:id="R02635a34af19455a"/>
    <p:sldId xmlns:r="http://schemas.openxmlformats.org/officeDocument/2006/relationships" id="265" r:id="R2f433308d97945a1"/>
    <p:sldId xmlns:r="http://schemas.openxmlformats.org/officeDocument/2006/relationships" id="266" r:id="R388f15957afc4e6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be88f8d514aa3" /><Relationship Type="http://schemas.openxmlformats.org/officeDocument/2006/relationships/theme" Target="/ppt/theme/theme1.xml" Id="R84ce1cdd45c24533" /><Relationship Type="http://schemas.openxmlformats.org/officeDocument/2006/relationships/notesMaster" Target="/ppt/notesMasters/notesMaster1.xml" Id="Redc1450198634dce" /><Relationship Type="http://schemas.openxmlformats.org/officeDocument/2006/relationships/presProps" Target="/ppt/presProps.xml" Id="R7137f246193749cb" /><Relationship Type="http://schemas.openxmlformats.org/officeDocument/2006/relationships/viewProps" Target="/ppt/viewProps.xml" Id="Re7497addad754fcc" /><Relationship Type="http://schemas.openxmlformats.org/officeDocument/2006/relationships/tableStyles" Target="/ppt/tableStyles.xml" Id="R68bb901b5ff049e2" /><Relationship Type="http://schemas.openxmlformats.org/officeDocument/2006/relationships/slide" Target="/ppt/slides/slide1.xml" Id="R343b353898c0435e" /><Relationship Type="http://schemas.openxmlformats.org/officeDocument/2006/relationships/slide" Target="/ppt/slides/slide2.xml" Id="Re6678ffe15e44698" /><Relationship Type="http://schemas.openxmlformats.org/officeDocument/2006/relationships/slide" Target="/ppt/slides/slide3.xml" Id="R0078950360874ad6" /><Relationship Type="http://schemas.openxmlformats.org/officeDocument/2006/relationships/slide" Target="/ppt/slides/slide4.xml" Id="Rccda9a7898c1485c" /><Relationship Type="http://schemas.openxmlformats.org/officeDocument/2006/relationships/slide" Target="/ppt/slides/slide5.xml" Id="Rc3ebcd2cf37d4982" /><Relationship Type="http://schemas.openxmlformats.org/officeDocument/2006/relationships/slide" Target="/ppt/slides/slide6.xml" Id="R3db245428af140b1" /><Relationship Type="http://schemas.openxmlformats.org/officeDocument/2006/relationships/slide" Target="/ppt/slides/slide7.xml" Id="R6a67561a94704d97" /><Relationship Type="http://schemas.openxmlformats.org/officeDocument/2006/relationships/slide" Target="/ppt/slides/slide8.xml" Id="R936f12b174e3414a" /><Relationship Type="http://schemas.openxmlformats.org/officeDocument/2006/relationships/slide" Target="/ppt/slides/slide9.xml" Id="R02635a34af19455a" /><Relationship Type="http://schemas.openxmlformats.org/officeDocument/2006/relationships/slide" Target="/ppt/slides/slide10.xml" Id="R2f433308d97945a1" /><Relationship Type="http://schemas.openxmlformats.org/officeDocument/2006/relationships/slide" Target="/ppt/slides/slide11.xml" Id="R388f15957afc4e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b9cf226383d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949f59f724510" /><Relationship Type="http://schemas.openxmlformats.org/officeDocument/2006/relationships/notesMaster" Target="/ppt/notesMasters/notesMaster1.xml" Id="R7bbb1d4475354a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67b79981684feb" /><Relationship Type="http://schemas.openxmlformats.org/officeDocument/2006/relationships/notesMaster" Target="/ppt/notesMasters/notesMaster1.xml" Id="R959c12c1d069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5daf7c3136491f" /><Relationship Type="http://schemas.openxmlformats.org/officeDocument/2006/relationships/notesMaster" Target="/ppt/notesMasters/notesMaster1.xml" Id="R499f19913d454d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ba56acb10c4cf9" /><Relationship Type="http://schemas.openxmlformats.org/officeDocument/2006/relationships/notesMaster" Target="/ppt/notesMasters/notesMaster1.xml" Id="R169fac6845b146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3a9c8c2664d93" /><Relationship Type="http://schemas.openxmlformats.org/officeDocument/2006/relationships/notesMaster" Target="/ppt/notesMasters/notesMaster1.xml" Id="R2052144e401544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332e6d8a14dec" /><Relationship Type="http://schemas.openxmlformats.org/officeDocument/2006/relationships/notesMaster" Target="/ppt/notesMasters/notesMaster1.xml" Id="R20fb4ea3a95943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359289772c4875" /><Relationship Type="http://schemas.openxmlformats.org/officeDocument/2006/relationships/notesMaster" Target="/ppt/notesMasters/notesMaster1.xml" Id="R45214b12b36e4f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b0c06f39564451" /><Relationship Type="http://schemas.openxmlformats.org/officeDocument/2006/relationships/notesMaster" Target="/ppt/notesMasters/notesMaster1.xml" Id="Rf08c9125b84d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a3c1201d034db5" /><Relationship Type="http://schemas.openxmlformats.org/officeDocument/2006/relationships/notesMaster" Target="/ppt/notesMasters/notesMaster1.xml" Id="Rdd0fcf7f5c6344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a89bb6c6014a24" /><Relationship Type="http://schemas.openxmlformats.org/officeDocument/2006/relationships/notesMaster" Target="/ppt/notesMasters/notesMaster1.xml" Id="R23f1863bae314e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7789cd87d0466b" /><Relationship Type="http://schemas.openxmlformats.org/officeDocument/2006/relationships/notesMaster" Target="/ppt/notesMasters/notesMaster1.xml" Id="R495360f63147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0c2d789c74e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37c038d7b334c27" /><Relationship Type="http://schemas.openxmlformats.org/officeDocument/2006/relationships/slideLayout" Target="/ppt/slideLayouts/slideLayout2.xml" Id="R9825b09f4eff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25b09f4eff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3a6c04f374f27" /><Relationship Type="http://schemas.openxmlformats.org/officeDocument/2006/relationships/notesSlide" Target="/ppt/notesSlides/notesSlide1.xml" Id="R98b3e824705f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ddb9f8f1e84ccc" /><Relationship Type="http://schemas.openxmlformats.org/officeDocument/2006/relationships/image" Target="/ppt/media/image.png" Id="R5f7ee34dba5340ce" /><Relationship Type="http://schemas.openxmlformats.org/officeDocument/2006/relationships/notesSlide" Target="/ppt/notesSlides/notesSlide2.xml" Id="Rabefd919b03043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72cb738544f10" /><Relationship Type="http://schemas.openxmlformats.org/officeDocument/2006/relationships/notesSlide" Target="/ppt/notesSlides/notesSlide3.xml" Id="R7cf949cbecaa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a3de6f234d4806" /><Relationship Type="http://schemas.openxmlformats.org/officeDocument/2006/relationships/image" Target="/ppt/media/image2.png" Id="Rdcaec3e540654527" /><Relationship Type="http://schemas.openxmlformats.org/officeDocument/2006/relationships/notesSlide" Target="/ppt/notesSlides/notesSlide4.xml" Id="Rcedacd89cda2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5f821783364669" /><Relationship Type="http://schemas.openxmlformats.org/officeDocument/2006/relationships/image" Target="/ppt/media/image3.png" Id="R0d4329c231fb4618" /><Relationship Type="http://schemas.openxmlformats.org/officeDocument/2006/relationships/notesSlide" Target="/ppt/notesSlides/notesSlide5.xml" Id="Rb5a95b280b4445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9d28c096bc46c5" /><Relationship Type="http://schemas.openxmlformats.org/officeDocument/2006/relationships/notesSlide" Target="/ppt/notesSlides/notesSlide6.xml" Id="Rbb6d8dd5169640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3ebc387f04ee6" /><Relationship Type="http://schemas.openxmlformats.org/officeDocument/2006/relationships/notesSlide" Target="/ppt/notesSlides/notesSlide7.xml" Id="R3252c6a9058e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33fd1ceda2403d" /><Relationship Type="http://schemas.openxmlformats.org/officeDocument/2006/relationships/notesSlide" Target="/ppt/notesSlides/notesSlide8.xml" Id="R7c23ff137d1049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bc2b9fd8a4481" /><Relationship Type="http://schemas.openxmlformats.org/officeDocument/2006/relationships/notesSlide" Target="/ppt/notesSlides/notesSlide9.xml" Id="Rdef6f937f807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e2a2d210324b67" /><Relationship Type="http://schemas.openxmlformats.org/officeDocument/2006/relationships/notesSlide" Target="/ppt/notesSlides/notesSlide10.xml" Id="R9dabdbedf89a46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9fef45c44541db" /><Relationship Type="http://schemas.openxmlformats.org/officeDocument/2006/relationships/notesSlide" Target="/ppt/notesSlides/notesSlide11.xml" Id="R70a65d2deefc4f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14CA9-585B-420F-B235-511061E5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80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B52D7-2BE0-4BFE-AE9F-0B307E9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8097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E8E08-C6F0-4EF0-B893-BC91FA2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2450"/>
            <a:ext cx="161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EF487-A673-4E4D-BB18-F733F229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2450"/>
            <a:ext cx="16192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276D4-71A7-4E07-BCC7-3533657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24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B5"/>
          </a:solidFill>
          <a:ln xmlns:a="http://schemas.openxmlformats.org/drawingml/2006/main" w="0">
            <a:solidFill>
              <a:srgbClr val="B8C7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1F46F-9111-4883-9784-3E87E104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3067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F7F36"/>
                </a:solidFill>
              </a:defRPr>
            </a:pPr>
            <a:r>
              <a:rPr sz="3150" b="1">
                <a:solidFill>
                  <a:srgbClr val="4F7F36"/>
                </a:solidFill>
              </a:rPr>
              <a:t>Agent에서 시작한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D01A652-366E-43E0-9856-30BB2EE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47815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010"/>
                </a:solidFill>
              </a:defRPr>
            </a:pPr>
            <a:r>
              <a:rPr sz="5250" b="1">
                <a:solidFill>
                  <a:srgbClr val="101010"/>
                </a:solidFill>
              </a:rPr>
              <a:t>Long-Horizon</a:t>
            </a:r>
          </a:p>
          <a:p xmlns:a="http://schemas.openxmlformats.org/drawingml/2006/main">
            <a:pPr>
              <a:defRPr sz="5250" b="1">
                <a:solidFill>
                  <a:srgbClr val="101010"/>
                </a:solidFill>
              </a:defRPr>
            </a:pPr>
            <a:r>
              <a:rPr sz="5250" b="1">
                <a:solidFill>
                  <a:srgbClr val="101010"/>
                </a:solidFill>
              </a:rPr>
              <a:t>Skill Composition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260B25F-F36E-4F62-9998-FECA52B7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6868"/>
                </a:solidFill>
              </a:defRPr>
            </a:pPr>
            <a:r>
              <a:rPr sz="2175" b="0">
                <a:solidFill>
                  <a:srgbClr val="686868"/>
                </a:solidFill>
              </a:rPr>
              <a:t>Task-relevant perception으로 안정적인 atomic skill 조합하기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A907C-1394-44B5-A8D4-7209CEB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37541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4F6F3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F9F0C-47FA-4BF8-8961-D31B9DD6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600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3B19"/>
                </a:solidFill>
              </a:defRPr>
            </a:pPr>
            <a:r>
              <a:rPr sz="2850" b="1">
                <a:solidFill>
                  <a:srgbClr val="073B19"/>
                </a:solidFill>
              </a:rPr>
              <a:t>AI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933B6-8A29-4151-B799-264E59C0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600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6868"/>
                </a:solidFill>
              </a:defRPr>
            </a:pPr>
            <a:r>
              <a:rPr sz="1800" b="0">
                <a:solidFill>
                  <a:srgbClr val="686868"/>
                </a:solidFill>
              </a:rPr>
              <a:t>Plan → Select tools → Execute →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FFB0-0E01-4E24-AC6B-D71B27D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33900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4A81E"/>
                </a:solidFill>
              </a:defRPr>
            </a:pPr>
            <a:r>
              <a:rPr sz="4050" b="1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10E4E-53CD-44EC-903C-8069A2B2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600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3B19"/>
                </a:solidFill>
              </a:defRPr>
            </a:pPr>
            <a:r>
              <a:rPr sz="2850" b="1">
                <a:solidFill>
                  <a:srgbClr val="073B19"/>
                </a:solidFill>
              </a:rPr>
              <a:t>Robotics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15C9C-80CC-41EE-923A-634E64DD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600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6868"/>
                </a:solidFill>
              </a:defRPr>
            </a:pPr>
            <a:r>
              <a:rPr sz="1800" b="0">
                <a:solidFill>
                  <a:srgbClr val="686868"/>
                </a:solidFill>
              </a:rPr>
              <a:t>Plan → Select skills → Execute → 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8A7B2-DA14-4980-BD86-0C3A5302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48600"/>
            <a:ext cx="13754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6868"/>
                </a:solidFill>
              </a:defRPr>
            </a:pPr>
            <a:r>
              <a:rPr sz="1350" b="0">
                <a:solidFill>
                  <a:srgbClr val="686868"/>
                </a:solidFill>
              </a:rPr>
              <a:t>Research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17454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E61C3-C2A9-440C-AA32-3C69BEC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B4148-600C-46DD-A42E-34675636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FDC3825F-9FA4-46F2-9583-EBA3D15B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왜 Skill Composition에 관심을 갖게 되었는가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5439D09-2B8A-4E37-BA3E-593DB5B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2/11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CB0FC-3F6A-4728-A5AA-8A7ED72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C8BAA-BB3F-41BD-8676-397E5AE4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F70A3-B9D5-45E5-9FA9-1DBD572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D4BF3-CFAE-4B73-99AD-450E9DC9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C8814-484B-4F6C-A5AF-7C9F5384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2">
            <a:extLst xmlns:a="http://schemas.openxmlformats.org/drawingml/2006/main">
              <a:ext uri="{FF2B5EF4-FFF2-40B4-BE49-F238E27FC236}">
                <a16:creationId xmlns:a16="http://schemas.microsoft.com/office/drawing/2014/main" id="{2E471183-CD71-4BBC-A6D3-57CC54C2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2-0">
            <a:extLst xmlns:a="http://schemas.openxmlformats.org/drawingml/2006/main">
              <a:ext uri="{FF2B5EF4-FFF2-40B4-BE49-F238E27FC236}">
                <a16:creationId xmlns:a16="http://schemas.microsoft.com/office/drawing/2014/main" id="{F3F2E33E-DC72-4D0A-88A7-8CC68E35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[AI Agent] 복잡한 요청을 subtask로 분해하고 필요한 tool을 선택·실행</a:t>
            </a:r>
          </a:p>
        </p:txBody>
      </p:sp>
      <p:sp>
        <p:nvSpPr>
          <p:cNvPr id="12" name="keyline-2-1">
            <a:extLst xmlns:a="http://schemas.openxmlformats.org/drawingml/2006/main">
              <a:ext uri="{FF2B5EF4-FFF2-40B4-BE49-F238E27FC236}">
                <a16:creationId xmlns:a16="http://schemas.microsoft.com/office/drawing/2014/main" id="{1E7D3634-B3D9-4D12-8F56-299D3435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[Research Question] 로봇도 학습된 atomic skill을 tool처럼 조합할 수 있을까?</a:t>
            </a:r>
          </a:p>
        </p:txBody>
      </p:sp>
      <p:pic>
        <p:nvPicPr>
          <p:cNvPr id="13" name="agent-paradigm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ee34dba5340ce"/>
          <a:stretch xmlns:a="http://schemas.openxmlformats.org/drawingml/2006/main"/>
        </p:blipFill>
        <p:spPr>
          <a:xfrm xmlns:a="http://schemas.openxmlformats.org/drawingml/2006/main">
            <a:off x="2094204" y="2085975"/>
            <a:ext cx="11051591" cy="6219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405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1AFEE-0FE1-4E6B-B202-F21782FA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1EA9B-E694-4781-A7BB-C297E3C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1B97ECFE-F782-4BBB-829D-57A261E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Long-Horizon Task와 Atomic Skills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A5F4A49-D568-4629-84A0-E921F45F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3/11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7790A-5082-48BA-B473-0168A28D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A790A-C0B8-44A9-9056-C7FFA00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25E30-1FA9-4546-8879-BD71E2F0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19F2F-7413-4DC9-AC27-92CE6695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7E2AE-25C3-4519-8076-1E37598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3">
            <a:extLst xmlns:a="http://schemas.openxmlformats.org/drawingml/2006/main">
              <a:ext uri="{FF2B5EF4-FFF2-40B4-BE49-F238E27FC236}">
                <a16:creationId xmlns:a16="http://schemas.microsoft.com/office/drawing/2014/main" id="{8092F8F1-6388-4686-9C03-5F4EA53E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3-0">
            <a:extLst xmlns:a="http://schemas.openxmlformats.org/drawingml/2006/main">
              <a:ext uri="{FF2B5EF4-FFF2-40B4-BE49-F238E27FC236}">
                <a16:creationId xmlns:a16="http://schemas.microsoft.com/office/drawing/2014/main" id="{DF408988-5512-4375-B10C-FB25A2C4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[Example] Clean the desk는 하나의 action이 아니라 여러 단계의 상태 전이</a:t>
            </a:r>
          </a:p>
        </p:txBody>
      </p:sp>
      <p:sp>
        <p:nvSpPr>
          <p:cNvPr id="12" name="keyline-3-1">
            <a:extLst xmlns:a="http://schemas.openxmlformats.org/drawingml/2006/main">
              <a:ext uri="{FF2B5EF4-FFF2-40B4-BE49-F238E27FC236}">
                <a16:creationId xmlns:a16="http://schemas.microsoft.com/office/drawing/2014/main" id="{CABEBDD0-8C3A-45B0-A9DA-57923A7D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재사용 가능한 skill이 있다면 새로운 task마다 전체 policy를 다시 학습할 필요가 줄어듦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38A71-B8CF-4CC2-BD99-E912A478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7019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EDA28-3DF5-482F-B500-9BFD126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76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Long-Horizon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50CF7-13CD-421F-AA76-9BCFF434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70199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6348F-E9D8-4E87-9C4A-B4C5B2B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10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73B19"/>
                </a:solidFill>
              </a:defRPr>
            </a:pPr>
            <a:r>
              <a:rPr sz="2775" b="1">
                <a:solidFill>
                  <a:srgbClr val="073B19"/>
                </a:solidFill>
              </a:rPr>
              <a:t>“Clean the desk”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089FE-35C3-4D11-91FB-25E6953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610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6868"/>
                </a:solidFill>
              </a:defRPr>
            </a:pPr>
            <a:r>
              <a:rPr sz="1800" b="0">
                <a:solidFill>
                  <a:srgbClr val="686868"/>
                </a:solidFill>
              </a:rPr>
              <a:t>환경을 여러 번 변화시키며</a:t>
            </a:r>
          </a:p>
          <a:p xmlns:a="http://schemas.openxmlformats.org/drawingml/2006/main">
            <a:pPr>
              <a:defRPr sz="1800" b="0">
                <a:solidFill>
                  <a:srgbClr val="686868"/>
                </a:solidFill>
              </a:defRPr>
            </a:pPr>
            <a:r>
              <a:rPr sz="1800" b="0">
                <a:solidFill>
                  <a:srgbClr val="686868"/>
                </a:solidFill>
              </a:rPr>
              <a:t>순차적으로 목표 상태에 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EF05A-E9D6-447D-85AA-0FC9A13B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85975"/>
            <a:ext cx="7019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E5F02-E70B-4FEB-B176-1B8CE72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676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Reusable Atomic Skills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3898F-74E8-44A5-8BDC-E7C593E7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95550"/>
            <a:ext cx="70199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3F19F-BFDC-4423-88BB-8C9738D3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6610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14E8A"/>
                </a:solidFill>
              </a:defRPr>
            </a:pPr>
            <a:r>
              <a:rPr sz="2325" b="1">
                <a:solidFill>
                  <a:srgbClr val="214E8A"/>
                </a:solidFill>
              </a:rPr>
              <a:t>Pick  →  Move  →  Place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B0772-3913-428C-9A2B-7B85BABF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661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F7F36"/>
                </a:solidFill>
              </a:defRPr>
            </a:pPr>
            <a:r>
              <a:rPr sz="2175" b="1">
                <a:solidFill>
                  <a:srgbClr val="4F7F36"/>
                </a:solidFill>
              </a:rPr>
              <a:t>Open  →  Pick  →  Place  →  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9B4D4-925F-4456-9534-4B4AA10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661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6868"/>
                </a:solidFill>
              </a:defRPr>
            </a:pPr>
            <a:r>
              <a:rPr sz="1650" b="0">
                <a:solidFill>
                  <a:srgbClr val="686868"/>
                </a:solidFill>
              </a:rPr>
              <a:t>같은 skill을 object와 target만 바꾸어 재사용</a:t>
            </a:r>
          </a:p>
        </p:txBody>
      </p:sp>
    </p:spTree>
    <p:extLst>
      <p:ext uri="{BB962C8B-B14F-4D97-AF65-F5344CB8AC3E}">
        <p14:creationId xmlns:p14="http://schemas.microsoft.com/office/powerpoint/2010/main" val="1610737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73E0D-A56E-44AC-B4E7-3E26F3D3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743AA-87CB-4904-A5B5-972426F1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91DB6D7E-327E-4FBE-AD09-4F22754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관련 논문 – Compose by Focus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C5D1231-5456-48A4-BE83-AAFDBB3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4/11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4E6BC-68F2-42E0-82AC-B1B3DCF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571E8-5173-4386-96BF-E9ED92EB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55F0A-72CA-46CE-8D98-100E8111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74DD8-A313-48C6-895E-3E7E69A4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07D20-79F6-4940-BFC2-13E331C7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4">
            <a:extLst xmlns:a="http://schemas.openxmlformats.org/drawingml/2006/main">
              <a:ext uri="{FF2B5EF4-FFF2-40B4-BE49-F238E27FC236}">
                <a16:creationId xmlns:a16="http://schemas.microsoft.com/office/drawing/2014/main" id="{E201BE40-B3A7-48BE-A713-B16D448C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4-0">
            <a:extLst xmlns:a="http://schemas.openxmlformats.org/drawingml/2006/main">
              <a:ext uri="{FF2B5EF4-FFF2-40B4-BE49-F238E27FC236}">
                <a16:creationId xmlns:a16="http://schemas.microsoft.com/office/drawing/2014/main" id="{CB987AE0-AF5C-4A8F-9210-92239E1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[Paper] Compose by Focus: Scene Graph-based Atomic Skills</a:t>
            </a:r>
          </a:p>
        </p:txBody>
      </p:sp>
      <p:sp>
        <p:nvSpPr>
          <p:cNvPr id="12" name="keyline-4-1">
            <a:extLst xmlns:a="http://schemas.openxmlformats.org/drawingml/2006/main">
              <a:ext uri="{FF2B5EF4-FFF2-40B4-BE49-F238E27FC236}">
                <a16:creationId xmlns:a16="http://schemas.microsoft.com/office/drawing/2014/main" id="{E70C75D9-FEC7-41CF-BCB7-7022087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현재 skill과 관련된 정보에 집중시켜 skill composition의 distribution shift를 완화</a:t>
            </a:r>
          </a:p>
        </p:txBody>
      </p:sp>
      <p:pic>
        <p:nvPicPr>
          <p:cNvPr id="13" name="compose-paper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ec3e540654527"/>
          <a:stretch xmlns:a="http://schemas.openxmlformats.org/drawingml/2006/main"/>
        </p:blipFill>
        <p:spPr>
          <a:xfrm xmlns:a="http://schemas.openxmlformats.org/drawingml/2006/main">
            <a:off x="514350" y="2711430"/>
            <a:ext cx="7589240" cy="496891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43259-529B-400C-BE41-89EC87DC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090" y="2085975"/>
            <a:ext cx="643156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92F33-3507-41B6-87F6-61AD7B5E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논문의 핵심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41BFF-DD1A-4ED2-99FE-63862F3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090" y="2495550"/>
            <a:ext cx="643156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04E76-9DEF-40BD-8205-D051AA1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개별 skill은 성공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3A295-88E0-4D74-94C3-156287AD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601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독립적인 evaluation에서는 높은 성공률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E4C63-E28E-4076-8A74-BAF3D71E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7F36"/>
                </a:solidFill>
              </a:defRPr>
            </a:pPr>
            <a:r>
              <a:rPr sz="1800" b="1">
                <a:solidFill>
                  <a:srgbClr val="4F7F36"/>
                </a:solidFill>
              </a:rPr>
              <a:t>•  조합하면 실패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7FCD2-048F-4079-8C18-AAC74976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601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이전 skill의 결과가 다음 skill의 새로운 초기 상태가 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89C0B-39B8-48C7-9ED0-ACC9BAB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601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Focus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6AFD2-460B-4539-B214-C59E012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601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현재 subtask에 필요한 정보만 policy observation으로 제공</a:t>
            </a:r>
          </a:p>
        </p:txBody>
      </p:sp>
    </p:spTree>
    <p:extLst>
      <p:ext uri="{BB962C8B-B14F-4D97-AF65-F5344CB8AC3E}">
        <p14:creationId xmlns:p14="http://schemas.microsoft.com/office/powerpoint/2010/main" val="5809633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1D1BF-098B-46ED-9893-96235A9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7278D-D14D-4024-981C-0BA8104D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5771D739-E78A-4283-879C-F26394E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왜 개별 Skill은 조합하면 실패하는가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AE12256-33FD-46BE-A125-9BB11ED0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5/11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F0BDA-1626-4AAA-94BD-59F947E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AC058-076D-4193-B86A-5F3EC13A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63C54-B752-410F-84E0-E87D08B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8DEAD-39AB-4688-907F-76E524E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1EBC1-B448-4432-B069-6F2A8A1D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5">
            <a:extLst xmlns:a="http://schemas.openxmlformats.org/drawingml/2006/main">
              <a:ext uri="{FF2B5EF4-FFF2-40B4-BE49-F238E27FC236}">
                <a16:creationId xmlns:a16="http://schemas.microsoft.com/office/drawing/2014/main" id="{252AB8BA-84B1-4EC0-BC86-A9F97CD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5-0">
            <a:extLst xmlns:a="http://schemas.openxmlformats.org/drawingml/2006/main">
              <a:ext uri="{FF2B5EF4-FFF2-40B4-BE49-F238E27FC236}">
                <a16:creationId xmlns:a16="http://schemas.microsoft.com/office/drawing/2014/main" id="{ABF521F9-690C-456D-9FF5-DFAE1854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[Core Problem] 앞선 skill이 만든 결과 상태가 다음 skill의 학습 분포와 다름</a:t>
            </a:r>
          </a:p>
        </p:txBody>
      </p:sp>
      <p:sp>
        <p:nvSpPr>
          <p:cNvPr id="12" name="keyline-5-1">
            <a:extLst xmlns:a="http://schemas.openxmlformats.org/drawingml/2006/main">
              <a:ext uri="{FF2B5EF4-FFF2-40B4-BE49-F238E27FC236}">
                <a16:creationId xmlns:a16="http://schemas.microsoft.com/office/drawing/2014/main" id="{20499779-48D2-49C8-9C87-22FF6139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작은 위치·높이·각도 오차가 다음 skill에 OOD initial state를 제공</a:t>
            </a:r>
          </a:p>
        </p:txBody>
      </p:sp>
      <p:pic>
        <p:nvPicPr>
          <p:cNvPr id="13" name="distribution-shif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329c231fb4618"/>
          <a:stretch xmlns:a="http://schemas.openxmlformats.org/drawingml/2006/main"/>
        </p:blipFill>
        <p:spPr>
          <a:xfrm xmlns:a="http://schemas.openxmlformats.org/drawingml/2006/main">
            <a:off x="2094204" y="2085975"/>
            <a:ext cx="11051591" cy="6219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909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4CC87-1E22-4FD9-9C9E-528B9CAC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E09E0-4A53-4547-9EF7-D401C573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0C55A48-FDF8-4BD0-975D-098869EB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Compose by Focus의 해결 방식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493B030-E2AA-4431-A5B0-299F2A18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6/11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987B0-22AB-48FB-9741-E78BC12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307CC-64AD-47A4-B840-22FF17A9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C3CBB-C86C-46CA-9511-8B4D6A4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B0AB5-B848-479A-B3C3-B86240D9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F1B9A-0832-4F36-B204-254AF26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6">
            <a:extLst xmlns:a="http://schemas.openxmlformats.org/drawingml/2006/main">
              <a:ext uri="{FF2B5EF4-FFF2-40B4-BE49-F238E27FC236}">
                <a16:creationId xmlns:a16="http://schemas.microsoft.com/office/drawing/2014/main" id="{E41045E5-8157-422B-A8A7-AE2CE5BB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6-0">
            <a:extLst xmlns:a="http://schemas.openxmlformats.org/drawingml/2006/main">
              <a:ext uri="{FF2B5EF4-FFF2-40B4-BE49-F238E27FC236}">
                <a16:creationId xmlns:a16="http://schemas.microsoft.com/office/drawing/2014/main" id="{76DAEBFF-2DCA-4C7F-BE75-888D4CA8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[Focus] 전체 장면이 아니라 현재 atomic skill과 관련된 object와 relation에 집중</a:t>
            </a:r>
          </a:p>
        </p:txBody>
      </p:sp>
      <p:sp>
        <p:nvSpPr>
          <p:cNvPr id="12" name="keyline-6-1">
            <a:extLst xmlns:a="http://schemas.openxmlformats.org/drawingml/2006/main">
              <a:ext uri="{FF2B5EF4-FFF2-40B4-BE49-F238E27FC236}">
                <a16:creationId xmlns:a16="http://schemas.microsoft.com/office/drawing/2014/main" id="{2CDA65A9-2C92-40E6-8B7B-4D21BD88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Task-irrelevant scene variation이 policy에 전달되는 것을 줄여 skill chaining을 안정화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F0703-4C12-4D01-A715-E84AB8A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66008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6BEB7-8873-4613-92A2-03242A67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34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Full Scene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68E99-1598-4C0E-8195-66A104FE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66008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DCEFB-C255-4E6D-8E9B-D3149CC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19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6868"/>
                </a:solidFill>
              </a:defRPr>
            </a:pPr>
            <a:r>
              <a:rPr sz="1875" b="0">
                <a:solidFill>
                  <a:srgbClr val="686868"/>
                </a:solidFill>
              </a:rPr>
              <a:t>Cup · Drawer · Book · Bottle</a:t>
            </a:r>
          </a:p>
          <a:p xmlns:a="http://schemas.openxmlformats.org/drawingml/2006/main">
            <a:pPr>
              <a:defRPr sz="1875" b="0">
                <a:solidFill>
                  <a:srgbClr val="686868"/>
                </a:solidFill>
              </a:defRPr>
            </a:pPr>
            <a:r>
              <a:rPr sz="1875" b="0">
                <a:solidFill>
                  <a:srgbClr val="686868"/>
                </a:solidFill>
              </a:rPr>
              <a:t>Background · Distractors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712D6-23B2-4F65-AD6E-68CD9E3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52222"/>
                </a:solidFill>
              </a:defRPr>
            </a:pPr>
            <a:r>
              <a:rPr sz="1725" b="1">
                <a:solidFill>
                  <a:srgbClr val="B52222"/>
                </a:solidFill>
              </a:rPr>
              <a:t>불필요한 변화까지 observation에 포함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B9EAE-737E-479D-B4B2-0842640E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D4A81E"/>
                </a:solidFill>
              </a:defRPr>
            </a:pPr>
            <a:r>
              <a:rPr sz="4500" b="1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13B0B-726F-4BBC-B274-8288A2F4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66008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FB5DB-E7D3-429B-964D-CB8B1AF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634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Task-Relevant Observation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911BD-7F8F-4E16-91EC-933DE5EF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95550"/>
            <a:ext cx="66008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FBD55-9A2A-43B4-BD9F-B046335D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619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3B19"/>
                </a:solidFill>
              </a:defRPr>
            </a:pPr>
            <a:r>
              <a:rPr sz="2325" b="1">
                <a:solidFill>
                  <a:srgbClr val="073B19"/>
                </a:solidFill>
              </a:rPr>
              <a:t>Gripper · Cup · Drawer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A39DB-6A8E-41A9-B5FA-23E69CEA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F7F36"/>
                </a:solidFill>
              </a:defRPr>
            </a:pPr>
            <a:r>
              <a:rPr sz="1725" b="1">
                <a:solidFill>
                  <a:srgbClr val="4F7F36"/>
                </a:solidFill>
              </a:rPr>
              <a:t>현재 subtask 수행에 필요한 상태와 관계에 집중</a:t>
            </a:r>
          </a:p>
        </p:txBody>
      </p:sp>
    </p:spTree>
    <p:extLst>
      <p:ext uri="{BB962C8B-B14F-4D97-AF65-F5344CB8AC3E}">
        <p14:creationId xmlns:p14="http://schemas.microsoft.com/office/powerpoint/2010/main" val="11074939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616BB-38B2-47A3-9517-CC7B6172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91A9F-559D-40D0-BF90-F59EE7F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237F50FE-DFA6-4A76-AF1D-039B697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Long-Horizon Execution Pipeline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6E540A4-E803-4627-8B8B-60CBEAD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7/11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D7517-D988-4D07-8307-6E5A3D3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7952E-0635-4DD9-8DDE-6CF9183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BA8C2-898B-4895-ACF1-FA0C2B3A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A84A-14A9-4E59-AA00-14641B1E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D02F2-BF72-4446-BA49-59B1134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7">
            <a:extLst xmlns:a="http://schemas.openxmlformats.org/drawingml/2006/main">
              <a:ext uri="{FF2B5EF4-FFF2-40B4-BE49-F238E27FC236}">
                <a16:creationId xmlns:a16="http://schemas.microsoft.com/office/drawing/2014/main" id="{AFDE055A-6A07-467E-979B-EDA7210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7-0">
            <a:extLst xmlns:a="http://schemas.openxmlformats.org/drawingml/2006/main">
              <a:ext uri="{FF2B5EF4-FFF2-40B4-BE49-F238E27FC236}">
                <a16:creationId xmlns:a16="http://schemas.microsoft.com/office/drawing/2014/main" id="{45DB5174-2EB8-4CBA-8E9D-1AA6001C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[Planning] Long-horizon goal을 subtask sequence로 분해</a:t>
            </a:r>
          </a:p>
        </p:txBody>
      </p:sp>
      <p:sp>
        <p:nvSpPr>
          <p:cNvPr id="12" name="keyline-7-1">
            <a:extLst xmlns:a="http://schemas.openxmlformats.org/drawingml/2006/main">
              <a:ext uri="{FF2B5EF4-FFF2-40B4-BE49-F238E27FC236}">
                <a16:creationId xmlns:a16="http://schemas.microsoft.com/office/drawing/2014/main" id="{8AF49912-8F6B-40C5-BCC6-4EDAE4CF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[Execution] 각 subtask에 맞는 observation과 atomic policy를 반복적으로 구성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FC94-56CD-4BEB-A98F-C7143F25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30956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8F1AA-99F9-4D28-B068-CA3B54A5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07FDE-89C0-432B-815E-8BBD1E8D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309562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0013C-625B-4BB6-9D13-74CCD79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68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010"/>
                </a:solidFill>
              </a:defRPr>
            </a:pPr>
            <a:r>
              <a:rPr sz="1950" b="1">
                <a:solidFill>
                  <a:srgbClr val="101010"/>
                </a:solidFill>
              </a:rPr>
              <a:t>Clean the 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00F1C-E196-4FB1-AAEB-5DB1AB40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4A81E"/>
                </a:solidFill>
              </a:defRPr>
            </a:pPr>
            <a:r>
              <a:rPr sz="3000" b="0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92FF7-716F-44BE-8F17-7956E25B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85975"/>
            <a:ext cx="30956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493DA-D3DE-41D0-81F0-A6E057F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Planner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3B969-540E-4922-A405-58B3AB1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95550"/>
            <a:ext cx="309562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A4463-0D3A-48B5-BA13-88D6B918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686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Subtask</a:t>
            </a:r>
          </a:p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Decomposition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6E701-BDD8-41F2-A7CD-A75C973E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4A81E"/>
                </a:solidFill>
              </a:defRPr>
            </a:pPr>
            <a:r>
              <a:rPr sz="3000" b="0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A5896-1B5F-423E-A8CB-2763C964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30956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F1C18-B34F-476C-8275-1645525B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4F036-B691-4F66-B72E-A621A9C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309562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737DB-725E-4694-B925-7C401CD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67000"/>
            <a:ext cx="2686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Task-Relevant</a:t>
            </a:r>
          </a:p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Observation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D02BA-862A-45B0-9AD5-897E4DE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4A81E"/>
                </a:solidFill>
              </a:defRPr>
            </a:pPr>
            <a:r>
              <a:rPr sz="3000" b="0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FE1FD-F443-461F-98A0-86A9FA7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085975"/>
            <a:ext cx="30956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CFAF1-43A9-43AE-B2CB-E3B5FD79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13360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6B7040-F3BB-4636-81B8-C741669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495550"/>
            <a:ext cx="309562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BA2F5F-1E80-43A2-A940-C97C983F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667000"/>
            <a:ext cx="2686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Atomic Skill</a:t>
            </a:r>
          </a:p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Execution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8001D-EC17-4530-A248-14B512C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421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F7F36"/>
                </a:solidFill>
              </a:defRPr>
            </a:pPr>
            <a:r>
              <a:rPr sz="2250" b="1">
                <a:solidFill>
                  <a:srgbClr val="4F7F36"/>
                </a:solidFill>
              </a:rPr>
              <a:t>Observe new state  →  Verify completion  →  Select next subtask  ↺</a:t>
            </a:r>
          </a:p>
        </p:txBody>
      </p:sp>
    </p:spTree>
    <p:extLst>
      <p:ext uri="{BB962C8B-B14F-4D97-AF65-F5344CB8AC3E}">
        <p14:creationId xmlns:p14="http://schemas.microsoft.com/office/powerpoint/2010/main" val="9521922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21B628-1645-4E53-9165-8B794C6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3C105-412D-467C-B9A3-CAE9B95E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CD526769-7E82-4FF7-ACB0-4EDEC3FA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논문을 읽으며 발견한 문제점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60234C4-DF60-42F3-8FEC-0CA84CC8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8/11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80B3-BAAA-496B-B496-4D591428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25A9B-FF10-4B03-B65E-BBC4656E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51F75-1A23-4427-943A-59229DD7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02CAB-635E-4E91-B7EA-DD82590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3174-EED9-4467-8327-4779862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8">
            <a:extLst xmlns:a="http://schemas.openxmlformats.org/drawingml/2006/main">
              <a:ext uri="{FF2B5EF4-FFF2-40B4-BE49-F238E27FC236}">
                <a16:creationId xmlns:a16="http://schemas.microsoft.com/office/drawing/2014/main" id="{F91B95C6-5181-46A9-923C-116A5E3A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8-0">
            <a:extLst xmlns:a="http://schemas.openxmlformats.org/drawingml/2006/main">
              <a:ext uri="{FF2B5EF4-FFF2-40B4-BE49-F238E27FC236}">
                <a16:creationId xmlns:a16="http://schemas.microsoft.com/office/drawing/2014/main" id="{5C0B0A94-817C-4B7E-978B-FC6775F6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[Objective Evaluation] 효과는 분명하지만 범용 framework로 확장하면 perception 및 inference overhead가 증가할 수 있음</a:t>
            </a:r>
          </a:p>
        </p:txBody>
      </p:sp>
      <p:sp>
        <p:nvSpPr>
          <p:cNvPr id="12" name="keyline-8-1">
            <a:extLst xmlns:a="http://schemas.openxmlformats.org/drawingml/2006/main">
              <a:ext uri="{FF2B5EF4-FFF2-40B4-BE49-F238E27FC236}">
                <a16:creationId xmlns:a16="http://schemas.microsoft.com/office/drawing/2014/main" id="{35930754-5D82-4657-8018-200F70A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핵심 문제는 parameter 수만이 아니라 모듈 수, latency, error propagation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0C455-C7FC-421D-B2BC-65B00344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7019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9C6C1-FA12-46E0-A09D-28C07CDA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76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System Complexity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14D46-8B02-4E9E-A3D8-A47C3AD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70199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C8CDD-1C3E-4ADE-A78A-CFAF61AF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3D Perception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44821-D191-4B1C-8AC3-252A5995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Detection · pose estimation · tracking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B3F71-D7D1-4794-AA43-29CDF704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Graph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AEA36-50CD-4AEE-BC7D-823011A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장면 변화에 따라 object relation 갱신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D457C-417D-42F5-9A0B-2913BF8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Subgraph 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9F4E2-90EB-48FC-96AD-6754C5D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Subtask별 relevant object와 relation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D4F26-0D63-462C-AF82-1C8C0115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85975"/>
            <a:ext cx="7019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10E2B-E6AD-4CDB-8FE2-9C836F2A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676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Runtime &amp;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F31A5-B635-4429-A20A-03FBE840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95550"/>
            <a:ext cx="70199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10682-0CD3-425F-90AA-DEF27CD8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Planner/VLM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BE628-A822-428A-9402-06BDFC3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Subtask 생성과 전환 시 추가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2BB9E-62DA-40F5-8DC8-F02D4071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Error Propagation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30D4C-EE7C-49AE-B0B3-808FF5A7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Perception error가 graph와 action까지 전달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395776-A6C4-4DF0-8C06-AD2B0179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7F36"/>
                </a:solidFill>
              </a:defRPr>
            </a:pPr>
            <a:r>
              <a:rPr sz="1800" b="1">
                <a:solidFill>
                  <a:srgbClr val="4F7F36"/>
                </a:solidFill>
              </a:rPr>
              <a:t>•  Engineering Cost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0BC95-2DEF-4D1E-A25A-2101D28A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여러 모듈의 interface와 failure handling 필요</a:t>
            </a:r>
          </a:p>
        </p:txBody>
      </p:sp>
    </p:spTree>
    <p:extLst>
      <p:ext uri="{BB962C8B-B14F-4D97-AF65-F5344CB8AC3E}">
        <p14:creationId xmlns:p14="http://schemas.microsoft.com/office/powerpoint/2010/main" val="15351301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2683A-60BB-4873-B82C-566CA27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C61E7-7D3C-4934-940A-73783C67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9B4380DF-7957-4AE6-B319-3F65615B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대안 논문 – FocusVLA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8060B548-CBF2-457B-AF87-85A99887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9/11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61437-B338-4DAF-92FE-BF6DEC7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BE240-7B66-45E1-8675-EF9BEF2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68948-947A-4532-98F6-BD1B36B9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F83EE-8474-483E-88A3-E63270D8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1BE53-2FDE-4507-A995-B33DC18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9">
            <a:extLst xmlns:a="http://schemas.openxmlformats.org/drawingml/2006/main">
              <a:ext uri="{FF2B5EF4-FFF2-40B4-BE49-F238E27FC236}">
                <a16:creationId xmlns:a16="http://schemas.microsoft.com/office/drawing/2014/main" id="{642EB791-5F59-4D7D-93A9-D9A35E81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9-0">
            <a:extLst xmlns:a="http://schemas.openxmlformats.org/drawingml/2006/main">
              <a:ext uri="{FF2B5EF4-FFF2-40B4-BE49-F238E27FC236}">
                <a16:creationId xmlns:a16="http://schemas.microsoft.com/office/drawing/2014/main" id="{0B6D0439-4BF5-4EB2-B1E8-409BC59A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[Idea] 명시적인 graph 대신 policy 내부에서 task-relevant visual information을 선별</a:t>
            </a:r>
          </a:p>
        </p:txBody>
      </p:sp>
      <p:sp>
        <p:nvSpPr>
          <p:cNvPr id="12" name="keyline-9-1">
            <a:extLst xmlns:a="http://schemas.openxmlformats.org/drawingml/2006/main">
              <a:ext uri="{FF2B5EF4-FFF2-40B4-BE49-F238E27FC236}">
                <a16:creationId xmlns:a16="http://schemas.microsoft.com/office/drawing/2014/main" id="{D9245B1C-BCDB-4E90-894D-FDF0C2D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Patch-level regulation은 ‘어디를 볼지’, channel-level regulation은 ‘어떤 특징을 사용할지’ 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E0861-CCBD-4BA8-A751-9339425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7019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D2700-15B1-41C9-B020-990C543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76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Patch-Level Regulation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2A503-D12D-4332-8DDE-BC08781A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70199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30D3C-2696-4C93-803A-D3B2082D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1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3B19"/>
                </a:solidFill>
              </a:defRPr>
            </a:pPr>
            <a:r>
              <a:rPr sz="3150" b="1">
                <a:solidFill>
                  <a:srgbClr val="073B19"/>
                </a:solidFill>
              </a:rPr>
              <a:t>WHERE?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E7644-A2A2-4A20-A0BC-99803D36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610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010"/>
                </a:solidFill>
              </a:defRPr>
            </a:pPr>
            <a:r>
              <a:rPr sz="1875" b="0">
                <a:solidFill>
                  <a:srgbClr val="101010"/>
                </a:solidFill>
              </a:rPr>
              <a:t>Task와 관련된 image patch만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906F1-8899-4515-A143-036480F1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61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6868"/>
                </a:solidFill>
              </a:defRPr>
            </a:pPr>
            <a:r>
              <a:rPr sz="1650" b="0">
                <a:solidFill>
                  <a:srgbClr val="686868"/>
                </a:solidFill>
              </a:rPr>
              <a:t>불필요한 visual token 수 감소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26259-236C-4307-8779-1191D314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85975"/>
            <a:ext cx="70199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6514F-BE3A-4189-867A-C47FD17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676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Channel-Level Regulation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E077A-4FE1-492F-95CD-3FE7899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95550"/>
            <a:ext cx="7019925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C9247-20A1-4045-B6A9-D1460A0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661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3B19"/>
                </a:solidFill>
              </a:defRPr>
            </a:pPr>
            <a:r>
              <a:rPr sz="3150" b="1">
                <a:solidFill>
                  <a:srgbClr val="073B19"/>
                </a:solidFill>
              </a:rPr>
              <a:t>WHAT?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B11E1-0B24-473A-8133-C67286D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6610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010"/>
                </a:solidFill>
              </a:defRPr>
            </a:pPr>
            <a:r>
              <a:rPr sz="1875" b="0">
                <a:solidFill>
                  <a:srgbClr val="101010"/>
                </a:solidFill>
              </a:rPr>
              <a:t>Action에 유용한 feature channel 강조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5EC7B-D5AA-4E87-9762-0D44045D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661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6868"/>
                </a:solidFill>
              </a:defRPr>
            </a:pPr>
            <a:r>
              <a:rPr sz="1650" b="0">
                <a:solidFill>
                  <a:srgbClr val="686868"/>
                </a:solidFill>
              </a:rPr>
              <a:t>Noisy visual signal 억제</a:t>
            </a:r>
          </a:p>
        </p:txBody>
      </p:sp>
    </p:spTree>
    <p:extLst>
      <p:ext uri="{BB962C8B-B14F-4D97-AF65-F5344CB8AC3E}">
        <p14:creationId xmlns:p14="http://schemas.microsoft.com/office/powerpoint/2010/main" val="15241501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52CC4-F784-4A7E-BF4F-B962F5E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6A3DF-A946-4CAA-B359-7949F986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9820B289-6C1A-4B56-8CDC-8954F61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제안 Framework</a:t>
            </a:r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B2A780F6-875E-424D-BFCF-1F2A9F4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10/11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9FCE6-CC59-44C5-BE67-5D717B8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4F394-C283-491F-8C9D-6E026EE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7C3C-D99D-4C44-9005-4B83128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C8D46-6D94-4906-B507-2696A88A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95909-3EF3-4953-8F10-E71980B4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10">
            <a:extLst xmlns:a="http://schemas.openxmlformats.org/drawingml/2006/main">
              <a:ext uri="{FF2B5EF4-FFF2-40B4-BE49-F238E27FC236}">
                <a16:creationId xmlns:a16="http://schemas.microsoft.com/office/drawing/2014/main" id="{B44473EC-F054-4055-9A48-A2091723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10-0">
            <a:extLst xmlns:a="http://schemas.openxmlformats.org/drawingml/2006/main">
              <a:ext uri="{FF2B5EF4-FFF2-40B4-BE49-F238E27FC236}">
                <a16:creationId xmlns:a16="http://schemas.microsoft.com/office/drawing/2014/main" id="{AEAAE876-0F6F-4177-88DE-3B7D0100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[Proposal] Gemini가 subtask를 계획하고 focused action expert가 atomic skill을 실행</a:t>
            </a:r>
          </a:p>
        </p:txBody>
      </p:sp>
      <p:sp>
        <p:nvSpPr>
          <p:cNvPr id="12" name="keyline-10-1">
            <a:extLst xmlns:a="http://schemas.openxmlformats.org/drawingml/2006/main">
              <a:ext uri="{FF2B5EF4-FFF2-40B4-BE49-F238E27FC236}">
                <a16:creationId xmlns:a16="http://schemas.microsoft.com/office/drawing/2014/main" id="{D7CA6FCB-AF2C-48F1-B23F-E78D76CD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F7F36"/>
                </a:solidFill>
              </a:defRPr>
            </a:pPr>
            <a:r>
              <a:rPr sz="1800" b="0">
                <a:solidFill>
                  <a:srgbClr val="4F7F36"/>
                </a:solidFill>
              </a:rPr>
              <a:t>Scene graph 없이 task-relevant visual regulation을 diffusion/flow-matching policy에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855A2-3120-414B-818B-C56D1ADA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31242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05723-4920-4C90-AAD2-9D27BC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1335B-B43A-4AC0-8EDC-273564C2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31242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1006D-1EDD-4436-B2FA-C2B4ABF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705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Long-Horizon</a:t>
            </a:r>
          </a:p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Instruction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0A03C-002D-43F7-83BB-03C21407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4A81E"/>
                </a:solidFill>
              </a:defRPr>
            </a:pPr>
            <a:r>
              <a:rPr sz="2700" b="0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B7979-3480-428F-B0DC-BC17745F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85975"/>
            <a:ext cx="31242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9889C-6318-4C5F-A268-832BE86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7C487-A8BD-490B-88B7-61139E7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95550"/>
            <a:ext cx="31242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72534-62CC-4BFE-8A0B-46531B5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2705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Subtask</a:t>
            </a:r>
          </a:p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68A7C-C195-4A33-8FDD-AFFD151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4A81E"/>
                </a:solidFill>
              </a:defRPr>
            </a:pPr>
            <a:r>
              <a:rPr sz="2700" b="0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A0F12-155E-4308-85E2-276CB18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85975"/>
            <a:ext cx="31242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1A1AE-6A7C-4927-8973-929CC5E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Visual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EDF2A-1F0C-4BE5-AC81-9A91441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31242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0504C-EDC0-4083-9E9D-934D0008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2705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Patch + Channel</a:t>
            </a:r>
          </a:p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Regulation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D0F86-D97C-43AD-A864-4D1F9512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4A81E"/>
                </a:solidFill>
              </a:defRPr>
            </a:pPr>
            <a:r>
              <a:rPr sz="2700" b="0">
                <a:solidFill>
                  <a:srgbClr val="D4A81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D5F57-8292-4CC9-9AD2-5CE72CE8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085975"/>
            <a:ext cx="31242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533AB-4A87-43C7-9B2C-AA7B94C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1336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Action Expert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17572-397D-493A-9565-5F9838EE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95550"/>
            <a:ext cx="31242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A52BC3-F253-4CE9-91B8-47FD291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667000"/>
            <a:ext cx="2705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Diffusion / Flow</a:t>
            </a:r>
          </a:p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Action Chunk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C0E7D7-9F17-4FFB-B84D-877BD841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1000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E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9A958-F8C6-4FF7-8271-5C44208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467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3B19"/>
                </a:solidFill>
              </a:defRPr>
            </a:pPr>
            <a:r>
              <a:rPr sz="2175" b="1">
                <a:solidFill>
                  <a:srgbClr val="073B19"/>
                </a:solidFill>
              </a:rPr>
              <a:t>Execute → Verify skill completion → Replan when needed ↺</a:t>
            </a:r>
          </a:p>
        </p:txBody>
      </p:sp>
    </p:spTree>
    <p:extLst>
      <p:ext uri="{BB962C8B-B14F-4D97-AF65-F5344CB8AC3E}">
        <p14:creationId xmlns:p14="http://schemas.microsoft.com/office/powerpoint/2010/main" val="3941757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D39C6-E879-4405-8984-7C9C8292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DDD45-43E8-450C-80A3-3E55103F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D006CAD5-A04D-40F6-90C7-8213D5E4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261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Research Questions &amp; Takeaway</a:t>
            </a:r>
          </a:p>
        </p:txBody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2CCA2F49-7209-4B5E-B7E5-1E941E9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67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6868"/>
                </a:solidFill>
              </a:defRPr>
            </a:pPr>
            <a:r>
              <a:rPr sz="1725" b="0">
                <a:solidFill>
                  <a:srgbClr val="686868"/>
                </a:solidFill>
              </a:rPr>
              <a:t>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EAC15-AF46-4D40-B199-4D6F910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81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CB3D9-EA61-41E6-833A-E94C257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239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314FA-D644-4777-B06A-545384E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2088C-3204-43B0-9CDC-B49428D7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14400"/>
            <a:ext cx="10287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96B82-54D5-4A84-8B84-17E35BF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1205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AA5"/>
          </a:solidFill>
          <a:ln xmlns:a="http://schemas.openxmlformats.org/drawingml/2006/main" w="0">
            <a:solidFill>
              <a:srgbClr val="A8BAA5"/>
            </a:solidFill>
            <a:prstDash val="solid"/>
          </a:ln>
        </p:spPr>
      </p:sp>
      <p:sp>
        <p:nvSpPr>
          <p:cNvPr id="10" name="keybox-11">
            <a:extLst xmlns:a="http://schemas.openxmlformats.org/drawingml/2006/main">
              <a:ext uri="{FF2B5EF4-FFF2-40B4-BE49-F238E27FC236}">
                <a16:creationId xmlns:a16="http://schemas.microsoft.com/office/drawing/2014/main" id="{1C47129E-188C-492C-B0CD-5A83FA9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4211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keyline-11-0">
            <a:extLst xmlns:a="http://schemas.openxmlformats.org/drawingml/2006/main">
              <a:ext uri="{FF2B5EF4-FFF2-40B4-BE49-F238E27FC236}">
                <a16:creationId xmlns:a16="http://schemas.microsoft.com/office/drawing/2014/main" id="{6256C7B2-F3E2-44BD-BEA4-E7600CE5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379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7F36"/>
                </a:solidFill>
              </a:defRPr>
            </a:pPr>
            <a:r>
              <a:rPr sz="1800" b="1">
                <a:solidFill>
                  <a:srgbClr val="4F7F36"/>
                </a:solidFill>
              </a:rPr>
              <a:t>[Hypothesis] Task-relevant visual regulation은 atomic skill을 distractor와 composition shift에 더 강건하게 만들 수 있음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D9967-8364-45C0-99B0-2792ACEF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0104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E67C1-23B9-4FFF-9159-7A5D54D1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674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5AB55-21F5-43E9-B4FD-F9659EE1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7010400" cy="6105525"/>
          </a:xfrm>
          <a:prstGeom xmlns:a="http://schemas.openxmlformats.org/drawingml/2006/main" prst="roundRect">
            <a:avLst>
              <a:gd name="adj" fmla="val 12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D9741-60F4-430A-B716-B4EEB64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RQ1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9587D-BE24-4ED0-8E78-32651F1B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단일 atomic skill의 성공률이 향상되는가?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D4CA6-21E4-4AA7-9CA1-72FA2B50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RQ2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287E1-AD0E-4BAC-8DBD-5DAF0EE0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Visual distractor와 composition OOD에 더 강건한가?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6542A-5624-4AF0-8F80-3B7C28A3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•  RQ3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25712-770C-46CA-BFEF-65A9A5E3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6868"/>
                </a:solidFill>
              </a:defRPr>
            </a:pPr>
            <a:r>
              <a:rPr sz="1500" b="0">
                <a:solidFill>
                  <a:srgbClr val="686868"/>
                </a:solidFill>
              </a:rPr>
              <a:t>개별 skill 개선이 long-horizon 성공률로 이어지는가?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B68C7-8F0A-4CD4-B176-2261E32F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70104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3B19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B92C7-D391-4377-AA6D-A1CB2947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674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Final 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CF447-815F-4ED9-BB9D-4D048EF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0275"/>
            <a:ext cx="7010400" cy="6105525"/>
          </a:xfrm>
          <a:prstGeom xmlns:a="http://schemas.openxmlformats.org/drawingml/2006/main" prst="roundRect">
            <a:avLst>
              <a:gd name="adj" fmla="val 12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54517-81E3-452D-A341-75F5B33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6591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3B19"/>
                </a:solidFill>
              </a:defRPr>
            </a:pPr>
            <a:r>
              <a:rPr sz="2400" b="1">
                <a:solidFill>
                  <a:srgbClr val="073B19"/>
                </a:solidFill>
              </a:rPr>
              <a:t>Agent처럼</a:t>
            </a:r>
          </a:p>
          <a:p xmlns:a="http://schemas.openxmlformats.org/drawingml/2006/main">
            <a:pPr>
              <a:defRPr sz="2400" b="1">
                <a:solidFill>
                  <a:srgbClr val="073B19"/>
                </a:solidFill>
              </a:defRPr>
            </a:pPr>
            <a:r>
              <a:rPr sz="2400" b="1">
                <a:solidFill>
                  <a:srgbClr val="073B19"/>
                </a:solidFill>
              </a:rPr>
              <a:t>계획하고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218E9-7520-4CF4-84D1-6AEF75C9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6591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14E8A"/>
                </a:solidFill>
              </a:defRPr>
            </a:pPr>
            <a:r>
              <a:rPr sz="2400" b="1">
                <a:solidFill>
                  <a:srgbClr val="214E8A"/>
                </a:solidFill>
              </a:rPr>
              <a:t>Tool처럼</a:t>
            </a:r>
          </a:p>
          <a:p xmlns:a="http://schemas.openxmlformats.org/drawingml/2006/main">
            <a:pPr>
              <a:defRPr sz="2400" b="1">
                <a:solidFill>
                  <a:srgbClr val="214E8A"/>
                </a:solidFill>
              </a:defRPr>
            </a:pPr>
            <a:r>
              <a:rPr sz="2400" b="1">
                <a:solidFill>
                  <a:srgbClr val="214E8A"/>
                </a:solidFill>
              </a:rPr>
              <a:t>skill을 조합하며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139A4-7373-4C6C-BA32-24F954B5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6591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F7F36"/>
                </a:solidFill>
              </a:defRPr>
            </a:pPr>
            <a:r>
              <a:rPr sz="2400" b="1">
                <a:solidFill>
                  <a:srgbClr val="4F7F36"/>
                </a:solidFill>
              </a:rPr>
              <a:t>실패하면</a:t>
            </a:r>
          </a:p>
          <a:p xmlns:a="http://schemas.openxmlformats.org/drawingml/2006/main">
            <a:pPr>
              <a:defRPr sz="2400" b="1">
                <a:solidFill>
                  <a:srgbClr val="4F7F36"/>
                </a:solidFill>
              </a:defRPr>
            </a:pPr>
            <a:r>
              <a:rPr sz="2400" b="1">
                <a:solidFill>
                  <a:srgbClr val="4F7F36"/>
                </a:solidFill>
              </a:rPr>
              <a:t>다시 관찰하고 계획한다</a:t>
            </a:r>
          </a:p>
        </p:txBody>
      </p:sp>
    </p:spTree>
    <p:extLst>
      <p:ext uri="{BB962C8B-B14F-4D97-AF65-F5344CB8AC3E}">
        <p14:creationId xmlns:p14="http://schemas.microsoft.com/office/powerpoint/2010/main" val="2140398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2026-07-29T11:50:27.0570000Z</dcterms:created>
  <dcterms:modified xsi:type="dcterms:W3CDTF">2026-07-29T11:50:27.0570000Z</dcterms:modified>
</coreProperties>
</file>